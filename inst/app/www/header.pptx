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33207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D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6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749B8-C823-4F5D-A2FB-E6E6B7845BBF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3388" y="1143000"/>
            <a:ext cx="599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DFF74-3E8B-48A6-84D9-1A80875F85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085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DFF74-3E8B-48A6-84D9-1A80875F85E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215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5089" y="1122363"/>
            <a:ext cx="9990535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5089" y="3602038"/>
            <a:ext cx="999053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1B28-B236-4915-8A29-D7AB4C6448C0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DBEDE-DD70-4852-A45B-45442F125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163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1B28-B236-4915-8A29-D7AB4C6448C0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DBEDE-DD70-4852-A45B-45442F125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280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861" y="1709739"/>
            <a:ext cx="1148911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861" y="4589464"/>
            <a:ext cx="1148911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1B28-B236-4915-8A29-D7AB4C6448C0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DBEDE-DD70-4852-A45B-45442F125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496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5799" y="1825625"/>
            <a:ext cx="566130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43611" y="1825625"/>
            <a:ext cx="566130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1B28-B236-4915-8A29-D7AB4C6448C0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DBEDE-DD70-4852-A45B-45442F125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444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365126"/>
            <a:ext cx="1148911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535" y="1681163"/>
            <a:ext cx="56352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7535" y="2505075"/>
            <a:ext cx="563528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43611" y="1681163"/>
            <a:ext cx="56630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43611" y="2505075"/>
            <a:ext cx="56630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1B28-B236-4915-8A29-D7AB4C6448C0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DBEDE-DD70-4852-A45B-45442F125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03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1B28-B236-4915-8A29-D7AB4C6448C0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DBEDE-DD70-4852-A45B-45442F125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72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1B28-B236-4915-8A29-D7AB4C6448C0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DBEDE-DD70-4852-A45B-45442F125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09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5" y="457200"/>
            <a:ext cx="429627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3038" y="987426"/>
            <a:ext cx="674361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5" y="2057400"/>
            <a:ext cx="429627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1B28-B236-4915-8A29-D7AB4C6448C0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DBEDE-DD70-4852-A45B-45442F125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168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5" y="457200"/>
            <a:ext cx="429627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63038" y="987426"/>
            <a:ext cx="674361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5" y="2057400"/>
            <a:ext cx="429627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1B28-B236-4915-8A29-D7AB4C6448C0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DBEDE-DD70-4852-A45B-45442F125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772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1B28-B236-4915-8A29-D7AB4C6448C0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DBEDE-DD70-4852-A45B-45442F125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41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32635" y="365125"/>
            <a:ext cx="2872279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5799" y="365125"/>
            <a:ext cx="8450327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1B28-B236-4915-8A29-D7AB4C6448C0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DBEDE-DD70-4852-A45B-45442F125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68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5799" y="365126"/>
            <a:ext cx="1148911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799" y="1825625"/>
            <a:ext cx="1148911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799" y="6356351"/>
            <a:ext cx="2997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01B28-B236-4915-8A29-D7AB4C6448C0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12486" y="6356351"/>
            <a:ext cx="44957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07754" y="6356351"/>
            <a:ext cx="2997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DBEDE-DD70-4852-A45B-45442F125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152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68BB87-EBCE-74E7-7C51-F024E9496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7270" b="41951"/>
          <a:stretch/>
        </p:blipFill>
        <p:spPr>
          <a:xfrm>
            <a:off x="0" y="942581"/>
            <a:ext cx="13320713" cy="398098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35BBC7-9EC1-AD92-952F-7760FC635843}"/>
              </a:ext>
            </a:extLst>
          </p:cNvPr>
          <p:cNvSpPr/>
          <p:nvPr/>
        </p:nvSpPr>
        <p:spPr>
          <a:xfrm>
            <a:off x="2720897" y="1778912"/>
            <a:ext cx="9846527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>
              <a:bevelB w="50800" h="38100" prst="riblet"/>
            </a:sp3d>
          </a:bodyPr>
          <a:lstStyle/>
          <a:p>
            <a:pPr algn="ctr"/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rial Black" panose="020B0A04020102020204" pitchFamily="34" charset="0"/>
                <a:ea typeface="Verdana" panose="020B0604030504040204" pitchFamily="34" charset="0"/>
              </a:rPr>
              <a:t>HEssRNA </a:t>
            </a:r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rial Black" panose="020B0A04020102020204" pitchFamily="34" charset="0"/>
                <a:ea typeface="Verdana" panose="020B0604030504040204" pitchFamily="34" charset="0"/>
              </a:rPr>
              <a:t>: Heritability based Estimation of Sample size for RNA-Seq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014979-33DC-0B24-8F4B-5D7E12FB7E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16" y="1778912"/>
            <a:ext cx="2252265" cy="225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0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FACDD-2551-C4A4-ACFA-3394FF86F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-1"/>
            <a:ext cx="5890436" cy="68580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HEssRNA</a:t>
            </a:r>
            <a:r>
              <a:rPr lang="en-US" sz="2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 shiny based web tool that helps researchers to estimate sample size for conducting an experiment using RNA-Seq data. The estimation of sample size before conducting an experiment is crucial for getting optimum results. This tool incorporates the use of heritability traits of </a:t>
            </a:r>
            <a:r>
              <a:rPr lang="en-US" sz="240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 taurus</a:t>
            </a:r>
            <a:r>
              <a:rPr lang="en-US" sz="2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from the </a:t>
            </a:r>
            <a:r>
              <a:rPr lang="en-US" sz="240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CorrDB</a:t>
            </a:r>
            <a:r>
              <a:rPr lang="en-US" sz="2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database and helps in estimating the sample size based on the heritability score of a trait. We have grouped the heritability traits into three different groups based on their mean heritability scores from </a:t>
            </a:r>
            <a:r>
              <a:rPr lang="en-US" sz="240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CorrDB</a:t>
            </a:r>
            <a:r>
              <a:rPr lang="en-US" sz="2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namely, high, mid and low heritable traits. In this study we have derived the relationship between heritability group and power of discrimination of DEGs and thus the sample size.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67C8B6BE-211B-ABE7-5AB7-8B00BA8A14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0716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C4A894-9CA3-C2E9-EE90-D1E4DC1B5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558" y="1"/>
            <a:ext cx="72601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80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672C01-5A36-34C0-D98C-6790706E7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659" y="0"/>
            <a:ext cx="7585085" cy="68580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59A185-CEF1-1B10-5580-8D4C6F27953E}"/>
              </a:ext>
            </a:extLst>
          </p:cNvPr>
          <p:cNvSpPr/>
          <p:nvPr/>
        </p:nvSpPr>
        <p:spPr>
          <a:xfrm>
            <a:off x="3636334" y="3838354"/>
            <a:ext cx="6081824" cy="110578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74000">
                      <a:schemeClr val="bg1"/>
                    </a:gs>
                    <a:gs pos="8300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Cambria Math" panose="02040503050406030204" pitchFamily="18" charset="0"/>
                <a:ea typeface="Cambria Math" panose="02040503050406030204" pitchFamily="18" charset="0"/>
              </a:rPr>
              <a:t>HEssRNA</a:t>
            </a:r>
            <a:endParaRPr lang="en-IN" sz="11500" b="1" dirty="0"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74000">
                    <a:schemeClr val="bg1"/>
                  </a:gs>
                  <a:gs pos="8300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F0E3A2-29DD-4795-0723-02C6D4527DA8}"/>
              </a:ext>
            </a:extLst>
          </p:cNvPr>
          <p:cNvSpPr/>
          <p:nvPr/>
        </p:nvSpPr>
        <p:spPr>
          <a:xfrm>
            <a:off x="3912781" y="4944139"/>
            <a:ext cx="5528931" cy="7230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Heritability-based Estimation of Sample Size for RNA-Seq</a:t>
            </a:r>
            <a:endParaRPr lang="en-IN" sz="24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90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C437E2-1D16-A297-2A7B-63688B0A25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320713" cy="6858000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198DFF9-B058-17BB-E399-BB4D88F0460B}"/>
              </a:ext>
            </a:extLst>
          </p:cNvPr>
          <p:cNvSpPr/>
          <p:nvPr/>
        </p:nvSpPr>
        <p:spPr>
          <a:xfrm>
            <a:off x="3591922" y="329609"/>
            <a:ext cx="3068434" cy="44656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chemeClr val="tx1"/>
                </a:solidFill>
                <a:latin typeface="Bahnschrift Light SemiCondensed" panose="020B0502040204020203" pitchFamily="34" charset="0"/>
              </a:rPr>
              <a:t>HEssRNA</a:t>
            </a:r>
            <a:r>
              <a:rPr lang="en-US" sz="3600" b="1" dirty="0">
                <a:solidFill>
                  <a:schemeClr val="tx1"/>
                </a:solidFill>
                <a:latin typeface="Bahnschrift Light SemiCondensed" panose="020B0502040204020203" pitchFamily="34" charset="0"/>
              </a:rPr>
              <a:t>-Shiny</a:t>
            </a:r>
            <a:endParaRPr lang="en-IN" sz="3600" b="1" dirty="0">
              <a:solidFill>
                <a:schemeClr val="tx1"/>
              </a:solidFill>
              <a:latin typeface="Bahnschrift Light SemiCondensed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80396C-E155-6DD3-85CB-2BF30D475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586" y="4954773"/>
            <a:ext cx="3444949" cy="1541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AAD6B2-5234-A1AD-47E2-753840DAF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078" y="4954774"/>
            <a:ext cx="2817521" cy="128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663524F-B6CC-DA7C-D276-7B7029C2F806}"/>
              </a:ext>
            </a:extLst>
          </p:cNvPr>
          <p:cNvSpPr/>
          <p:nvPr/>
        </p:nvSpPr>
        <p:spPr>
          <a:xfrm>
            <a:off x="3005357" y="717697"/>
            <a:ext cx="7249779" cy="366823"/>
          </a:xfrm>
          <a:prstGeom prst="rect">
            <a:avLst/>
          </a:prstGeom>
          <a:ln/>
          <a:effectLst>
            <a:softEdge rad="3175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V Boli" panose="02000500030200090000" pitchFamily="2" charset="0"/>
                <a:cs typeface="MV Boli" panose="02000500030200090000" pitchFamily="2" charset="0"/>
              </a:rPr>
              <a:t>Heritability based estimation of sample size for RNA-Seq</a:t>
            </a:r>
            <a:endParaRPr lang="en-IN" sz="20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D9EF6B-7FC6-DAC3-1693-FF39AAB55874}"/>
              </a:ext>
            </a:extLst>
          </p:cNvPr>
          <p:cNvSpPr/>
          <p:nvPr/>
        </p:nvSpPr>
        <p:spPr>
          <a:xfrm>
            <a:off x="3047886" y="4742121"/>
            <a:ext cx="2817521" cy="212652"/>
          </a:xfrm>
          <a:prstGeom prst="rect">
            <a:avLst/>
          </a:prstGeom>
          <a:solidFill>
            <a:srgbClr val="A5AD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 size </a:t>
            </a:r>
            <a:r>
              <a:rPr lang="en-US" i="1" dirty="0"/>
              <a:t>vs</a:t>
            </a:r>
            <a:r>
              <a:rPr lang="en-US" dirty="0"/>
              <a:t>. Power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25B05D-156A-DF08-33A5-A5D0C9301412}"/>
              </a:ext>
            </a:extLst>
          </p:cNvPr>
          <p:cNvSpPr/>
          <p:nvPr/>
        </p:nvSpPr>
        <p:spPr>
          <a:xfrm>
            <a:off x="8141502" y="3083442"/>
            <a:ext cx="1108824" cy="345558"/>
          </a:xfrm>
          <a:prstGeom prst="rect">
            <a:avLst/>
          </a:prstGeom>
          <a:solidFill>
            <a:srgbClr val="DEDEDC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MV Boli" panose="02000500030200090000" pitchFamily="2" charset="0"/>
                <a:ea typeface="Gulim" panose="020B0600000101010101" pitchFamily="34" charset="-127"/>
                <a:cs typeface="MV Boli" panose="02000500030200090000" pitchFamily="2" charset="0"/>
              </a:rPr>
              <a:t>Scores</a:t>
            </a:r>
            <a:endParaRPr lang="en-IN" sz="1400" b="1" dirty="0">
              <a:solidFill>
                <a:schemeClr val="tx1"/>
              </a:solidFill>
              <a:latin typeface="MV Boli" panose="02000500030200090000" pitchFamily="2" charset="0"/>
              <a:ea typeface="Gulim" panose="020B0600000101010101" pitchFamily="34" charset="-127"/>
              <a:cs typeface="MV Boli" panose="0200050003020009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EA75B6-AE8F-CD1F-DDC2-8989C677F09D}"/>
              </a:ext>
            </a:extLst>
          </p:cNvPr>
          <p:cNvSpPr/>
          <p:nvPr/>
        </p:nvSpPr>
        <p:spPr>
          <a:xfrm>
            <a:off x="8056546" y="4641114"/>
            <a:ext cx="2817520" cy="345558"/>
          </a:xfrm>
          <a:prstGeom prst="rect">
            <a:avLst/>
          </a:prstGeom>
          <a:solidFill>
            <a:srgbClr val="DEDEDC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MV Boli" panose="02000500030200090000" pitchFamily="2" charset="0"/>
                <a:ea typeface="Gulim" panose="020B0600000101010101" pitchFamily="34" charset="-127"/>
                <a:cs typeface="MV Boli" panose="02000500030200090000" pitchFamily="2" charset="0"/>
              </a:rPr>
              <a:t>Negative Binomial distribution</a:t>
            </a:r>
            <a:endParaRPr lang="en-IN" sz="1400" b="1" dirty="0">
              <a:solidFill>
                <a:schemeClr val="tx1"/>
              </a:solidFill>
              <a:latin typeface="MV Boli" panose="02000500030200090000" pitchFamily="2" charset="0"/>
              <a:ea typeface="Gulim" panose="020B0600000101010101" pitchFamily="34" charset="-127"/>
              <a:cs typeface="MV Boli" panose="0200050003020009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00FF1A-F10C-AE8D-C638-1DB2080EE801}"/>
              </a:ext>
            </a:extLst>
          </p:cNvPr>
          <p:cNvSpPr/>
          <p:nvPr/>
        </p:nvSpPr>
        <p:spPr>
          <a:xfrm>
            <a:off x="8042871" y="3506088"/>
            <a:ext cx="2908663" cy="345558"/>
          </a:xfrm>
          <a:prstGeom prst="rect">
            <a:avLst/>
          </a:prstGeom>
          <a:solidFill>
            <a:srgbClr val="DEDEDC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MV Boli" panose="02000500030200090000" pitchFamily="2" charset="0"/>
                <a:ea typeface="Gulim" panose="020B0600000101010101" pitchFamily="34" charset="-127"/>
                <a:cs typeface="MV Boli" panose="02000500030200090000" pitchFamily="2" charset="0"/>
              </a:rPr>
              <a:t>Negative Binomial distribution</a:t>
            </a:r>
            <a:endParaRPr lang="en-IN" sz="1400" b="1" dirty="0">
              <a:solidFill>
                <a:schemeClr val="tx1"/>
              </a:solidFill>
              <a:latin typeface="MV Boli" panose="02000500030200090000" pitchFamily="2" charset="0"/>
              <a:ea typeface="Gulim" panose="020B0600000101010101" pitchFamily="34" charset="-127"/>
              <a:cs typeface="MV Boli" panose="0200050003020009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C44F62-532D-1E57-FE49-8FBB159D77C0}"/>
              </a:ext>
            </a:extLst>
          </p:cNvPr>
          <p:cNvSpPr/>
          <p:nvPr/>
        </p:nvSpPr>
        <p:spPr>
          <a:xfrm>
            <a:off x="9555732" y="1447360"/>
            <a:ext cx="1395802" cy="345558"/>
          </a:xfrm>
          <a:prstGeom prst="rect">
            <a:avLst/>
          </a:prstGeom>
          <a:solidFill>
            <a:srgbClr val="DEDEDC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MV Boli" panose="02000500030200090000" pitchFamily="2" charset="0"/>
                <a:ea typeface="Gulim" panose="020B0600000101010101" pitchFamily="34" charset="-127"/>
                <a:cs typeface="MV Boli" panose="02000500030200090000" pitchFamily="2" charset="0"/>
              </a:rPr>
              <a:t>Sample size</a:t>
            </a:r>
            <a:endParaRPr lang="en-IN" sz="1400" b="1" dirty="0">
              <a:solidFill>
                <a:schemeClr val="tx1"/>
              </a:solidFill>
              <a:latin typeface="MV Boli" panose="02000500030200090000" pitchFamily="2" charset="0"/>
              <a:ea typeface="Gulim" panose="020B0600000101010101" pitchFamily="34" charset="-127"/>
              <a:cs typeface="MV Boli" panose="0200050003020009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AC0621-7FF5-BD27-234D-1048E4AE3621}"/>
              </a:ext>
            </a:extLst>
          </p:cNvPr>
          <p:cNvSpPr/>
          <p:nvPr/>
        </p:nvSpPr>
        <p:spPr>
          <a:xfrm>
            <a:off x="6156251" y="3055538"/>
            <a:ext cx="1806826" cy="345558"/>
          </a:xfrm>
          <a:prstGeom prst="rect">
            <a:avLst/>
          </a:prstGeom>
          <a:solidFill>
            <a:srgbClr val="DEDEDC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MV Boli" panose="02000500030200090000" pitchFamily="2" charset="0"/>
                <a:ea typeface="Gulim" panose="020B0600000101010101" pitchFamily="34" charset="-127"/>
                <a:cs typeface="MV Boli" panose="02000500030200090000" pitchFamily="2" charset="0"/>
              </a:rPr>
              <a:t>RNA sequence</a:t>
            </a:r>
            <a:endParaRPr lang="en-IN" sz="1400" b="1" dirty="0">
              <a:solidFill>
                <a:schemeClr val="tx1"/>
              </a:solidFill>
              <a:latin typeface="MV Boli" panose="02000500030200090000" pitchFamily="2" charset="0"/>
              <a:ea typeface="Gulim" panose="020B0600000101010101" pitchFamily="34" charset="-127"/>
              <a:cs typeface="MV Boli" panose="0200050003020009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C4B4D6-8984-7A49-8A95-DC64E86122CD}"/>
              </a:ext>
            </a:extLst>
          </p:cNvPr>
          <p:cNvSpPr/>
          <p:nvPr/>
        </p:nvSpPr>
        <p:spPr>
          <a:xfrm>
            <a:off x="3005357" y="6241312"/>
            <a:ext cx="2860050" cy="255181"/>
          </a:xfrm>
          <a:prstGeom prst="rect">
            <a:avLst/>
          </a:prstGeom>
          <a:solidFill>
            <a:srgbClr val="DEDEDC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ea typeface="Gulim" panose="020B0600000101010101" pitchFamily="34" charset="-127"/>
                <a:cs typeface="Courier New" panose="02070309020205020404" pitchFamily="49" charset="0"/>
              </a:rPr>
              <a:t>High heritability</a:t>
            </a:r>
            <a:endParaRPr lang="en-IN" sz="1400" b="1" dirty="0">
              <a:solidFill>
                <a:schemeClr val="tx1"/>
              </a:solidFill>
              <a:latin typeface="Courier New" panose="02070309020205020404" pitchFamily="49" charset="0"/>
              <a:ea typeface="Gulim" panose="020B0600000101010101" pitchFamily="34" charset="-127"/>
              <a:cs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9F910D-7ABB-20B0-9B47-073E36A693C6}"/>
              </a:ext>
            </a:extLst>
          </p:cNvPr>
          <p:cNvSpPr/>
          <p:nvPr/>
        </p:nvSpPr>
        <p:spPr>
          <a:xfrm>
            <a:off x="3126078" y="1363626"/>
            <a:ext cx="1924387" cy="345558"/>
          </a:xfrm>
          <a:prstGeom prst="rect">
            <a:avLst/>
          </a:prstGeom>
          <a:solidFill>
            <a:srgbClr val="DEDEDC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Papyrus" panose="03070502060502030205" pitchFamily="66" charset="0"/>
                <a:ea typeface="Gulim" panose="020B0600000101010101" pitchFamily="34" charset="-127"/>
                <a:cs typeface="MV Boli" panose="02000500030200090000" pitchFamily="2" charset="0"/>
              </a:rPr>
              <a:t>Bovine animals</a:t>
            </a:r>
            <a:endParaRPr lang="en-IN" sz="1600" b="1" dirty="0">
              <a:solidFill>
                <a:schemeClr val="tx1"/>
              </a:solidFill>
              <a:latin typeface="Papyrus" panose="03070502060502030205" pitchFamily="66" charset="0"/>
              <a:ea typeface="Gulim" panose="020B0600000101010101" pitchFamily="34" charset="-127"/>
              <a:cs typeface="MV Boli" panose="0200050003020009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E7F13F-8D6A-C7C3-6962-83ED6107EB92}"/>
              </a:ext>
            </a:extLst>
          </p:cNvPr>
          <p:cNvSpPr/>
          <p:nvPr/>
        </p:nvSpPr>
        <p:spPr>
          <a:xfrm>
            <a:off x="5943599" y="1419447"/>
            <a:ext cx="1924387" cy="345558"/>
          </a:xfrm>
          <a:prstGeom prst="rect">
            <a:avLst/>
          </a:prstGeom>
          <a:solidFill>
            <a:srgbClr val="DEDEDC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Papyrus" panose="03070502060502030205" pitchFamily="66" charset="0"/>
                <a:ea typeface="Gulim" panose="020B0600000101010101" pitchFamily="34" charset="-127"/>
                <a:cs typeface="MV Boli" panose="02000500030200090000" pitchFamily="2" charset="0"/>
              </a:rPr>
              <a:t>Heritability</a:t>
            </a:r>
            <a:endParaRPr lang="en-IN" sz="1600" b="1" dirty="0">
              <a:solidFill>
                <a:schemeClr val="tx1"/>
              </a:solidFill>
              <a:latin typeface="Papyrus" panose="03070502060502030205" pitchFamily="66" charset="0"/>
              <a:ea typeface="Gulim" panose="020B0600000101010101" pitchFamily="34" charset="-127"/>
              <a:cs typeface="MV Boli" panose="0200050003020009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D93C7F-3DF4-2676-F070-349498BC0423}"/>
              </a:ext>
            </a:extLst>
          </p:cNvPr>
          <p:cNvSpPr/>
          <p:nvPr/>
        </p:nvSpPr>
        <p:spPr>
          <a:xfrm>
            <a:off x="8069503" y="1363627"/>
            <a:ext cx="1395803" cy="591104"/>
          </a:xfrm>
          <a:prstGeom prst="rect">
            <a:avLst/>
          </a:prstGeom>
          <a:solidFill>
            <a:srgbClr val="DEDEDC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Papyrus" panose="03070502060502030205" pitchFamily="66" charset="0"/>
                <a:ea typeface="Gulim" panose="020B0600000101010101" pitchFamily="34" charset="-127"/>
                <a:cs typeface="MV Boli" panose="02000500030200090000" pitchFamily="2" charset="0"/>
              </a:rPr>
              <a:t>Power of discrimination</a:t>
            </a:r>
            <a:endParaRPr lang="en-IN" sz="1600" b="1" dirty="0">
              <a:solidFill>
                <a:schemeClr val="tx1"/>
              </a:solidFill>
              <a:latin typeface="Papyrus" panose="03070502060502030205" pitchFamily="66" charset="0"/>
              <a:ea typeface="Gulim" panose="020B0600000101010101" pitchFamily="34" charset="-127"/>
              <a:cs typeface="MV Boli" panose="0200050003020009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31B34B-B85B-5254-8E9F-45477903108A}"/>
              </a:ext>
            </a:extLst>
          </p:cNvPr>
          <p:cNvSpPr/>
          <p:nvPr/>
        </p:nvSpPr>
        <p:spPr>
          <a:xfrm>
            <a:off x="2946844" y="2995722"/>
            <a:ext cx="2080130" cy="345558"/>
          </a:xfrm>
          <a:prstGeom prst="rect">
            <a:avLst/>
          </a:prstGeom>
          <a:solidFill>
            <a:srgbClr val="DEDEDC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Papyrus" panose="03070502060502030205" pitchFamily="66" charset="0"/>
                <a:ea typeface="Gulim" panose="020B0600000101010101" pitchFamily="34" charset="-127"/>
                <a:cs typeface="MV Boli" panose="02000500030200090000" pitchFamily="2" charset="0"/>
              </a:rPr>
              <a:t>Heritability scores</a:t>
            </a:r>
            <a:endParaRPr lang="en-IN" sz="1600" b="1" dirty="0">
              <a:solidFill>
                <a:schemeClr val="accent1">
                  <a:lumMod val="50000"/>
                </a:schemeClr>
              </a:solidFill>
              <a:latin typeface="Papyrus" panose="03070502060502030205" pitchFamily="66" charset="0"/>
              <a:ea typeface="Gulim" panose="020B0600000101010101" pitchFamily="34" charset="-127"/>
              <a:cs typeface="MV Boli" panose="0200050003020009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642B50-8588-CB2E-56CE-699A7659CDE2}"/>
              </a:ext>
            </a:extLst>
          </p:cNvPr>
          <p:cNvSpPr/>
          <p:nvPr/>
        </p:nvSpPr>
        <p:spPr>
          <a:xfrm>
            <a:off x="9250326" y="2995722"/>
            <a:ext cx="1733104" cy="457199"/>
          </a:xfrm>
          <a:prstGeom prst="rect">
            <a:avLst/>
          </a:prstGeom>
          <a:solidFill>
            <a:srgbClr val="DEDEDC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Papyrus" panose="03070502060502030205" pitchFamily="66" charset="0"/>
                <a:ea typeface="Gulim" panose="020B0600000101010101" pitchFamily="34" charset="-127"/>
                <a:cs typeface="MV Boli" panose="02000500030200090000" pitchFamily="2" charset="0"/>
              </a:rPr>
              <a:t>Fold change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Papyrus" panose="03070502060502030205" pitchFamily="66" charset="0"/>
                <a:ea typeface="Gulim" panose="020B0600000101010101" pitchFamily="34" charset="-127"/>
                <a:cs typeface="MV Boli" panose="02000500030200090000" pitchFamily="2" charset="0"/>
              </a:rPr>
              <a:t>Heritability class</a:t>
            </a:r>
            <a:endParaRPr lang="en-IN" sz="1400" b="1" dirty="0">
              <a:solidFill>
                <a:schemeClr val="tx1"/>
              </a:solidFill>
              <a:latin typeface="Papyrus" panose="03070502060502030205" pitchFamily="66" charset="0"/>
              <a:ea typeface="Gulim" panose="020B0600000101010101" pitchFamily="34" charset="-127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183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112</TotalTime>
  <Words>178</Words>
  <Application>Microsoft Office PowerPoint</Application>
  <PresentationFormat>Custom</PresentationFormat>
  <Paragraphs>21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6" baseType="lpstr">
      <vt:lpstr>Aptos</vt:lpstr>
      <vt:lpstr>Arial</vt:lpstr>
      <vt:lpstr>Arial Black</vt:lpstr>
      <vt:lpstr>Bahnschrift Light SemiCondensed</vt:lpstr>
      <vt:lpstr>Calibri</vt:lpstr>
      <vt:lpstr>Calibri Light</vt:lpstr>
      <vt:lpstr>Cambria Math</vt:lpstr>
      <vt:lpstr>Courier New</vt:lpstr>
      <vt:lpstr>MV Boli</vt:lpstr>
      <vt:lpstr>Papyrus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Naina Kumari</dc:creator>
  <cp:lastModifiedBy>Naina Kumari</cp:lastModifiedBy>
  <cp:revision>16</cp:revision>
  <dcterms:created xsi:type="dcterms:W3CDTF">2024-10-30T17:22:04Z</dcterms:created>
  <dcterms:modified xsi:type="dcterms:W3CDTF">2025-02-19T07:03:48Z</dcterms:modified>
</cp:coreProperties>
</file>